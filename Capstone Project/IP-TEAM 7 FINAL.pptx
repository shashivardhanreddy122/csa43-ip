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embeddedFontLst>
    <p:embeddedFont>
      <p:font typeface="Questrial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SVUfb9CiO4wcWiCw1DSMo/NrG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CC8C59-B226-4D5C-89DC-CDE89A2A3004}">
  <a:tblStyle styleId="{51CC8C59-B226-4D5C-89DC-CDE89A2A30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 txBox="1"/>
          <p:nvPr/>
        </p:nvSpPr>
        <p:spPr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:notes"/>
          <p:cNvSpPr txBox="1"/>
          <p:nvPr/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2475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4" name="Google Shape;94;p1:notes"/>
          <p:cNvSpPr txBox="1"/>
          <p:nvPr/>
        </p:nvSpPr>
        <p:spPr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80" name="Google Shape;280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" name="Google Shape;31;p27"/>
          <p:cNvSpPr txBox="1"/>
          <p:nvPr/>
        </p:nvSpPr>
        <p:spPr>
          <a:xfrm>
            <a:off x="7162800" y="152400"/>
            <a:ext cx="1981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u="sng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Outline</a:t>
            </a:r>
            <a:endParaRPr/>
          </a:p>
        </p:txBody>
      </p:sp>
      <p:sp>
        <p:nvSpPr>
          <p:cNvPr id="32" name="Google Shape;32;p27">
            <a:hlinkClick r:id="" action="ppaction://hlinkshowjump?jump=previousslide"/>
          </p:cNvPr>
          <p:cNvSpPr/>
          <p:nvPr/>
        </p:nvSpPr>
        <p:spPr>
          <a:xfrm rot="5400000">
            <a:off x="7086600" y="7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darken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7">
            <a:hlinkClick r:id="" action="ppaction://hlinkshowjump?jump=nextslide"/>
          </p:cNvPr>
          <p:cNvSpPr/>
          <p:nvPr/>
        </p:nvSpPr>
        <p:spPr>
          <a:xfrm rot="-5400000">
            <a:off x="7086600" y="45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darken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7"/>
          <p:cNvSpPr/>
          <p:nvPr/>
        </p:nvSpPr>
        <p:spPr>
          <a:xfrm>
            <a:off x="6705600" y="838200"/>
            <a:ext cx="24384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5" name="Google Shape;35;p27"/>
          <p:cNvSpPr txBox="1"/>
          <p:nvPr/>
        </p:nvSpPr>
        <p:spPr>
          <a:xfrm>
            <a:off x="0" y="6400800"/>
            <a:ext cx="6629400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Copyright 1992–2004 by Deitel &amp; Associates, Inc. and Pearson Education Inc. All Rights Reserved</a:t>
            </a:r>
            <a:r>
              <a:rPr lang="en-IN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4" name="Google Shape;54;p3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mysql.com/doc" TargetMode="External"/><Relationship Id="rId5" Type="http://schemas.openxmlformats.org/officeDocument/2006/relationships/hyperlink" Target="https://www.php.net/docs.php" TargetMode="External"/><Relationship Id="rId4" Type="http://schemas.openxmlformats.org/officeDocument/2006/relationships/hyperlink" Target="https://getbootstrap.com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/>
          <p:nvPr/>
        </p:nvSpPr>
        <p:spPr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0275" y="2208819"/>
            <a:ext cx="8686800" cy="1911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endParaRPr dirty="0"/>
          </a:p>
          <a:p>
            <a:pPr marL="365125" marR="0" lvl="1" indent="0" algn="ctr" rtl="0">
              <a:spcBef>
                <a:spcPts val="550"/>
              </a:spcBef>
              <a:spcAft>
                <a:spcPts val="0"/>
              </a:spcAft>
              <a:buNone/>
            </a:pPr>
            <a:b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ONLINE JOB PORTAL AND RECRUITMENT MANAGEMENT </a:t>
            </a:r>
            <a:r>
              <a:rPr lang="en-IN" sz="24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IN" sz="24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YSTEM</a:t>
            </a:r>
            <a:b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</a:t>
            </a:r>
            <a:endParaRPr dirty="0"/>
          </a:p>
          <a:p>
            <a:pPr marL="365125" marR="0" lvl="1" indent="0" algn="ctr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IN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endParaRPr sz="20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1">
                <a:solidFill>
                  <a:schemeClr val="dk1"/>
                </a:solidFill>
              </a:rPr>
              <a:t>1</a:t>
            </a:fld>
            <a:endParaRPr sz="1400" b="1">
              <a:solidFill>
                <a:schemeClr val="dk1"/>
              </a:solidFill>
            </a:endParaRPr>
          </a:p>
        </p:txBody>
      </p:sp>
      <p:pic>
        <p:nvPicPr>
          <p:cNvPr id="100" name="Google Shape;100;p1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09571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5366009" y="4895671"/>
            <a:ext cx="350857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S.SHASHI VARDHAN(192311155)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P.PRAVEEN(192372105)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G.NAVEEN(192324110)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N.LOKABANDHAVA(192324169)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554373" y="5120215"/>
            <a:ext cx="2966325" cy="114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350" marR="199390" lvl="0" indent="-635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of:</a:t>
            </a:r>
            <a:endParaRPr dirty="0"/>
          </a:p>
          <a:p>
            <a:pPr marL="6350" marR="199390" lvl="0" indent="-6350" algn="ctr" rtl="0">
              <a:lnSpc>
                <a:spcPct val="107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DR.D.SUDHAGAR</a:t>
            </a:r>
            <a:endParaRPr dirty="0"/>
          </a:p>
          <a:p>
            <a:pPr marL="0" marR="0" lvl="0" indent="0" algn="l" rtl="0">
              <a:spcBef>
                <a:spcPts val="73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634068" y="1735453"/>
            <a:ext cx="67954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Programming For Web App Development- CSA4305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9E530-1015-00A2-F54F-17BFCC9931D1}"/>
              </a:ext>
            </a:extLst>
          </p:cNvPr>
          <p:cNvSpPr txBox="1"/>
          <p:nvPr/>
        </p:nvSpPr>
        <p:spPr>
          <a:xfrm>
            <a:off x="5796371" y="4781661"/>
            <a:ext cx="3674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</a:t>
            </a:r>
            <a:r>
              <a:rPr lang="en-IN" dirty="0"/>
              <a:t>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822325" y="1467315"/>
            <a:ext cx="749935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IN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12" name="Google Shape;112;p2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09571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228600" y="2512671"/>
            <a:ext cx="8458200" cy="373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Portal Web Application is an online platform that connects job seekers and employers in a centralized system.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enables users to register, create profiles, search for jobs, and apply for suitable positions.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Employers can post job vacancies, manage applications, and track recruitment activities efficiently.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secure authentication, application tracking, and administrative monitoring to streamline the hiring process.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901822" y="1371600"/>
            <a:ext cx="749935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IN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1"/>
          </p:nvPr>
        </p:nvSpPr>
        <p:spPr>
          <a:xfrm>
            <a:off x="266700" y="2285999"/>
            <a:ext cx="84963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Traditional recruitment methods are often manual, time-consuming, and inefficient for both job seekers and employers. </a:t>
            </a:r>
            <a:endParaRPr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Job seekers face difficulties in finding suitable job opportunities and tracking their application status. </a:t>
            </a:r>
            <a:endParaRPr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Employers struggle to manage multiple job postings and handle a large number of applications effectively. </a:t>
            </a:r>
            <a:endParaRPr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Therefore, a centralized web-based Job Portal is required to streamline recruitment, improve communication, and simplify the hiring process. </a:t>
            </a:r>
            <a:endParaRPr/>
          </a:p>
        </p:txBody>
      </p:sp>
      <p:sp>
        <p:nvSpPr>
          <p:cNvPr id="121" name="Google Shape;121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22" name="Google Shape;122;p3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09571"/>
            <a:ext cx="7239000" cy="1109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29" name="Google Shape;129;p4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09571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1914525" y="1346639"/>
            <a:ext cx="531495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IN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6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1" name="Google Shape;131;p4"/>
          <p:cNvGraphicFramePr/>
          <p:nvPr/>
        </p:nvGraphicFramePr>
        <p:xfrm>
          <a:off x="228600" y="2165153"/>
          <a:ext cx="8686800" cy="4442510"/>
        </p:xfrm>
        <a:graphic>
          <a:graphicData uri="http://schemas.openxmlformats.org/drawingml/2006/table">
            <a:tbl>
              <a:tblPr>
                <a:noFill/>
                <a:tableStyleId>{51CC8C59-B226-4D5C-89DC-CDE89A2A3004}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IN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No.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Author(s)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Rajesh Kumar &amp; Anjali Sharma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Ahmed Hassan &amp; Sarah Williams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an online recruitment platform that simplified job posting, candidate registration, and application tracking for employers and job seekers.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John Smith &amp; Michael Brown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Online Recruitment System Using Web Technologies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a web-based recruitment system that improved hiring efficiency, reduced manual effort, and enhanced communication between employers and candidates.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Priya Verma et al.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and Development of a Job Recruitment Portal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Implemented a centralized job portal with secure authentication, resume management, and application tracking features.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Ahmed Hassan &amp; Sarah Williams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Modern E-Recruitment Platforms: A Systematic Review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Reviewed digital recruitment platforms and concluded that online job portals improve accessibility, hiring speed, and candidate engagement.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body" idx="1"/>
          </p:nvPr>
        </p:nvSpPr>
        <p:spPr>
          <a:xfrm>
            <a:off x="3276600" y="1832802"/>
            <a:ext cx="30289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None/>
            </a:pPr>
            <a:r>
              <a:rPr lang="en-IN" sz="4000" b="1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38" name="Google Shape;138;p5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2860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342900" y="2971800"/>
            <a:ext cx="8458200" cy="294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secure and user-friendly web-based Job Portal for connecting job seekers and employers.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 employers to post, manage, and track job vacancies efficiently.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allow job seekers to search, apply, and track job applications online.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automate the recruitment process and improve overall hiring efficiency.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45" name="Google Shape;145;p6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74090"/>
            <a:ext cx="7315200" cy="112131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2209800" y="1519535"/>
            <a:ext cx="5029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vs Proposed System 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52400" y="2021743"/>
            <a:ext cx="8839200" cy="465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existing recruitment process relies on manual methods such as newspapers, consultancies, and disconnected job portals, making job searching and hiring inefficient.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Candidates often face difficulties in finding suitable jobs and tracking their application status, while employers struggle to manage large volumes of applications.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Job Portal Web Application provides a centralized platform where employers can post jobs and candidates can search and apply online.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automates recruitment activities, offers real-time application tracking, and improves overall efficiency, accessibility, and user experience.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53" name="Google Shape;153;p7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09571"/>
            <a:ext cx="7238993" cy="110962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2990848" y="1481819"/>
            <a:ext cx="316230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/>
          </a:p>
        </p:txBody>
      </p:sp>
      <p:grpSp>
        <p:nvGrpSpPr>
          <p:cNvPr id="155" name="Google Shape;155;p7"/>
          <p:cNvGrpSpPr/>
          <p:nvPr/>
        </p:nvGrpSpPr>
        <p:grpSpPr>
          <a:xfrm>
            <a:off x="504825" y="2439932"/>
            <a:ext cx="8134350" cy="3689274"/>
            <a:chOff x="0" y="1532"/>
            <a:chExt cx="8134350" cy="3689274"/>
          </a:xfrm>
        </p:grpSpPr>
        <p:sp>
          <p:nvSpPr>
            <p:cNvPr id="156" name="Google Shape;156;p7"/>
            <p:cNvSpPr/>
            <p:nvPr/>
          </p:nvSpPr>
          <p:spPr>
            <a:xfrm>
              <a:off x="0" y="1532"/>
              <a:ext cx="8134350" cy="776689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234948" y="176287"/>
              <a:ext cx="427179" cy="427179"/>
            </a:xfrm>
            <a:prstGeom prst="rect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97076" y="1532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7"/>
            <p:cNvSpPr txBox="1"/>
            <p:nvPr/>
          </p:nvSpPr>
          <p:spPr>
            <a:xfrm>
              <a:off x="897076" y="1532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200" tIns="82200" rIns="82200" bIns="82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Module 1: User Authentication &amp; Profile Management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0" y="972394"/>
              <a:ext cx="8134350" cy="776689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234948" y="1147149"/>
              <a:ext cx="427179" cy="427179"/>
            </a:xfrm>
            <a:prstGeom prst="rect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897076" y="972394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7"/>
            <p:cNvSpPr txBox="1"/>
            <p:nvPr/>
          </p:nvSpPr>
          <p:spPr>
            <a:xfrm>
              <a:off x="897076" y="972394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200" tIns="82200" rIns="82200" bIns="82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Module 2: Employer Dashboard &amp; Job Management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0" y="1943255"/>
              <a:ext cx="8134350" cy="776689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234948" y="2118010"/>
              <a:ext cx="427179" cy="427179"/>
            </a:xfrm>
            <a:prstGeom prst="rect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897076" y="1943255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 txBox="1"/>
            <p:nvPr/>
          </p:nvSpPr>
          <p:spPr>
            <a:xfrm>
              <a:off x="897076" y="1943255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200" tIns="82200" rIns="82200" bIns="82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Module 3: Job Search &amp; Application System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0" y="2914117"/>
              <a:ext cx="8134350" cy="776689"/>
            </a:xfrm>
            <a:prstGeom prst="roundRect">
              <a:avLst>
                <a:gd name="adj" fmla="val 10000"/>
              </a:avLst>
            </a:prstGeom>
            <a:solidFill>
              <a:srgbClr val="CDD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234948" y="3088872"/>
              <a:ext cx="427179" cy="427179"/>
            </a:xfrm>
            <a:prstGeom prst="rect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897076" y="2914117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897076" y="2914117"/>
              <a:ext cx="7237273" cy="776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200" tIns="82200" rIns="82200" bIns="82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Module 4: Admin Panel &amp; Reports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77" name="Google Shape;177;p8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1543049" y="1860051"/>
            <a:ext cx="605790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1: User Authentication &amp; Profile Management</a:t>
            </a:r>
            <a:endParaRPr sz="2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457200" y="3174067"/>
            <a:ext cx="8305800" cy="280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users to register and create an account using personal details.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secure login and logout functionality with authentication mechanisms.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users to create, update, and manage their profiles and upload resumes.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data security through session management and password protection.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85" name="Google Shape;185;p9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1063" y="1629687"/>
            <a:ext cx="7778074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192" name="Google Shape;192;p10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600200"/>
            <a:ext cx="8839200" cy="5072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199" name="Google Shape;199;p11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 txBox="1"/>
          <p:nvPr/>
        </p:nvSpPr>
        <p:spPr>
          <a:xfrm>
            <a:off x="1159933" y="1865293"/>
            <a:ext cx="7069667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 Employer Dashboard &amp; Job Management</a:t>
            </a:r>
            <a:endParaRPr sz="28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457200" y="3174067"/>
            <a:ext cx="8305800" cy="279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employers to register and manage their company profiles.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employers to create, update, and delete job postings.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facilities to view and manage job applications.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employers track recruitment activities efficiently.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07" name="Google Shape;207;p12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" y="1450437"/>
            <a:ext cx="8020050" cy="5388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pic>
        <p:nvPicPr>
          <p:cNvPr id="214" name="Google Shape;214;p13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" y="1524000"/>
            <a:ext cx="90297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21" name="Google Shape;221;p14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 txBox="1"/>
          <p:nvPr/>
        </p:nvSpPr>
        <p:spPr>
          <a:xfrm>
            <a:off x="1676399" y="1865293"/>
            <a:ext cx="5791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3: Job Search &amp; Application System</a:t>
            </a:r>
            <a:endParaRPr sz="2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495299" y="2971800"/>
            <a:ext cx="8153400" cy="280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module allows job seekers to search for job opportunities using keywords, categories, skills, and location-based filters.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view detailed job descriptions, eligibility criteria, salary information, and company details before applying.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Candidates can apply for jobs online by uploading their resumes and submitting application forms through the portal.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29" name="Google Shape;229;p15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" y="1612160"/>
            <a:ext cx="8877300" cy="486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36" name="Google Shape;236;p16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447800"/>
            <a:ext cx="89154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243" name="Google Shape;243;p17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1676399" y="1865293"/>
            <a:ext cx="57912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4: Admin Panel &amp; Reports</a:t>
            </a:r>
            <a:endParaRPr sz="2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504824" y="2895600"/>
            <a:ext cx="8210552" cy="280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the administrator to manage users, employers, and job postings from a centralized dashboard.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Monitors system activities, user registrations, and job application statistics.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reports related to jobs, applications, and platform usage.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data security, system maintenance, and overall platform management.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251" name="Google Shape;251;p18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94" y="1600200"/>
            <a:ext cx="9016706" cy="487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pic>
        <p:nvPicPr>
          <p:cNvPr id="258" name="Google Shape;258;p19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577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1447800"/>
            <a:ext cx="8458200" cy="490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pic>
        <p:nvPicPr>
          <p:cNvPr id="265" name="Google Shape;265;p20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224" y="22860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/>
          <p:cNvPicPr preferRelativeResize="0"/>
          <p:nvPr/>
        </p:nvPicPr>
        <p:blipFill rotWithShape="1">
          <a:blip r:embed="rId4">
            <a:alphaModFix/>
          </a:blip>
          <a:srcRect b="84928"/>
          <a:stretch/>
        </p:blipFill>
        <p:spPr>
          <a:xfrm>
            <a:off x="47017" y="1708151"/>
            <a:ext cx="9049966" cy="73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2650541"/>
            <a:ext cx="4495800" cy="200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0424" y="2517557"/>
            <a:ext cx="1855580" cy="22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69156" y="4864039"/>
            <a:ext cx="4492755" cy="1722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>
            <a:spLocks noGrp="1"/>
          </p:cNvSpPr>
          <p:nvPr>
            <p:ph type="body" idx="1"/>
          </p:nvPr>
        </p:nvSpPr>
        <p:spPr>
          <a:xfrm>
            <a:off x="3501743" y="1828800"/>
            <a:ext cx="2140514" cy="58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IN" sz="3200" b="1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75" name="Google Shape;275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pic>
        <p:nvPicPr>
          <p:cNvPr id="276" name="Google Shape;276;p21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224" y="22860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457200" y="2559356"/>
            <a:ext cx="8332224" cy="373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Job Portal Web Application provides a centralized platform that connects job seekers and employers efficiently.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simplifies the recruitment process through online job posting, job searching, and application tracking features.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ensures secure user management, efficient data handling, and improved communication between employers and candidates.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project enhances recruitment efficiency, reduces manual effort, and offers a user-friendly solution for modern hiring needs.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>
            <a:spLocks noGrp="1"/>
          </p:cNvSpPr>
          <p:nvPr>
            <p:ph type="title"/>
          </p:nvPr>
        </p:nvSpPr>
        <p:spPr>
          <a:xfrm>
            <a:off x="838200" y="1265238"/>
            <a:ext cx="749935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IN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1375799" y="3352800"/>
            <a:ext cx="7086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br>
              <a:rPr lang="en-IN" sz="16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IN" sz="2000" b="1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2060"/>
              </a:solidFill>
              <a:highlight>
                <a:srgbClr val="00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22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09571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/>
          <p:nvPr/>
        </p:nvSpPr>
        <p:spPr>
          <a:xfrm>
            <a:off x="228600" y="2320535"/>
            <a:ext cx="861060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Silberschatz, A., Korth, H. F., &amp; Sudarshan, S. (2019). </a:t>
            </a:r>
            <a:r>
              <a:rPr lang="en-IN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System Concepts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(7th ed.). McGraw-Hill Education.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Freeman, E., Robson, E., Sierra, K., &amp; Bates, B. (2021). </a:t>
            </a:r>
            <a:r>
              <a:rPr lang="en-IN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 First HTML and CSS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(2nd ed.). O'Reilly Media.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Nixon, R. (2021). </a:t>
            </a:r>
            <a:r>
              <a:rPr lang="en-IN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PHP, MySQL &amp; JavaScript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(6th ed.). O'Reilly Media.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Duckett, J. (2014). </a:t>
            </a:r>
            <a:r>
              <a:rPr lang="en-IN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 and jQuery: Interactive Front-End Web Development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Wiley. 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Bootstrap Team. (2025). </a:t>
            </a:r>
            <a:r>
              <a:rPr lang="en-IN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Bootstrap Documentation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Retrieved from </a:t>
            </a:r>
            <a:r>
              <a:rPr lang="en-IN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Documentation Group. (2025). </a:t>
            </a:r>
            <a:r>
              <a:rPr lang="en-IN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Manual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Retrieved from </a:t>
            </a:r>
            <a:r>
              <a:rPr lang="en-IN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https://www.php.net/docs.php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Corporation. (2025). </a:t>
            </a:r>
            <a:r>
              <a:rPr lang="en-IN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Documentation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Retrieved from </a:t>
            </a:r>
            <a:r>
              <a:rPr lang="en-IN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https://dev.mysql.com/doc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pic>
        <p:nvPicPr>
          <p:cNvPr id="293" name="Google Shape;293;p23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224" y="228600"/>
            <a:ext cx="7239000" cy="110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A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6155" y="3013355"/>
            <a:ext cx="3971690" cy="166787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1055</Words>
  <Application>Microsoft Office PowerPoint</Application>
  <PresentationFormat>On-screen Show (4:3)</PresentationFormat>
  <Paragraphs>125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Noto Sans Symbols</vt:lpstr>
      <vt:lpstr>Times New Roman</vt:lpstr>
      <vt:lpstr>Arial</vt:lpstr>
      <vt:lpstr>Calibri</vt:lpstr>
      <vt:lpstr>Questrial</vt:lpstr>
      <vt:lpstr>Office Theme</vt:lpstr>
      <vt:lpstr>PowerPoint Presentation</vt:lpstr>
      <vt:lpstr>Introduction</vt:lpstr>
      <vt:lpstr>Problem Statement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shashi vardhan reddy</cp:lastModifiedBy>
  <cp:revision>3</cp:revision>
  <dcterms:created xsi:type="dcterms:W3CDTF">2000-07-06T15:05:59Z</dcterms:created>
  <dcterms:modified xsi:type="dcterms:W3CDTF">2026-09-03T16:09:21Z</dcterms:modified>
</cp:coreProperties>
</file>